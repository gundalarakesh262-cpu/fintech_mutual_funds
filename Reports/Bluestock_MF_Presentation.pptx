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Industry AUM Trend (L Cr)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Industry AUM (L Cr)</c:v>
                </c:pt>
              </c:strCache>
            </c:strRef>
          </c:tx>
          <c:spPr>
            <a:solidFill>
              <a:srgbClr val="003087"/>
            </a:solidFill>
            <a:ln w="38100" cap="flat">
              <a:solidFill>
                <a:srgbClr val="00308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3087"/>
              </a:solidFill>
              <a:ln w="9525" cap="flat">
                <a:solidFill>
                  <a:srgbClr val="00308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Mar-22</c:v>
                  </c:pt>
                  <c:pt idx="1">
                    <c:v>Sep-22</c:v>
                  </c:pt>
                  <c:pt idx="2">
                    <c:v>Mar-23</c:v>
                  </c:pt>
                  <c:pt idx="3">
                    <c:v>Sep-23</c:v>
                  </c:pt>
                  <c:pt idx="4">
                    <c:v>Mar-24</c:v>
                  </c:pt>
                  <c:pt idx="5">
                    <c:v>Sep-24</c:v>
                  </c:pt>
                  <c:pt idx="6">
                    <c:v>Dec-24</c:v>
                  </c:pt>
                  <c:pt idx="7">
                    <c:v>Mar-25</c:v>
                  </c:pt>
                  <c:pt idx="8">
                    <c:v>Dec-25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38.96</c:v>
                </c:pt>
                <c:pt idx="1">
                  <c:v>39.89</c:v>
                </c:pt>
                <c:pt idx="2">
                  <c:v>41.77</c:v>
                </c:pt>
                <c:pt idx="3">
                  <c:v>48.31</c:v>
                </c:pt>
                <c:pt idx="4">
                  <c:v>56.48</c:v>
                </c:pt>
                <c:pt idx="5">
                  <c:v>61.03</c:v>
                </c:pt>
                <c:pt idx="6">
                  <c:v>68.01</c:v>
                </c:pt>
                <c:pt idx="7">
                  <c:v>70.32</c:v>
                </c:pt>
                <c:pt idx="8">
                  <c:v>81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Annual SIP Inflows (Cr)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SIP Inflow (Cr)</c:v>
                </c:pt>
              </c:strCache>
            </c:strRef>
          </c:tx>
          <c:spPr>
            <a:solidFill>
              <a:srgbClr val="0057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308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57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57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6B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6B0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12400</c:v>
                </c:pt>
                <c:pt idx="1">
                  <c:v>16300</c:v>
                </c:pt>
                <c:pt idx="2">
                  <c:v>21700</c:v>
                </c:pt>
                <c:pt idx="3">
                  <c:v>31000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308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Transaction Type Split (%)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3087"/>
              </a:solidFill>
              <a:effectLst/>
            </c:spPr>
          </c:dPt>
          <c:dPt>
            <c:idx val="1"/>
            <c:bubble3D val="0"/>
            <c:spPr>
              <a:solidFill>
                <a:srgbClr val="FF6B00"/>
              </a:solidFill>
              <a:effectLst/>
            </c:spPr>
          </c:dPt>
          <c:dPt>
            <c:idx val="2"/>
            <c:bubble3D val="0"/>
            <c:spPr>
              <a:solidFill>
                <a:srgbClr val="28A74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Lumpsum</c:v>
                </c:pt>
                <c:pt idx="1">
                  <c:v>Redemption</c:v>
                </c:pt>
                <c:pt idx="2">
                  <c:v>SIP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58.5</c:v>
                </c:pt>
                <c:pt idx="1">
                  <c:v>35.3</c:v>
                </c:pt>
                <c:pt idx="2">
                  <c:v>6.2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Avg SIP Amount by Age Group (Rs.)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SIP Amount (Rs.)</c:v>
                </c:pt>
              </c:strCache>
            </c:strRef>
          </c:tx>
          <c:spPr>
            <a:solidFill>
              <a:srgbClr val="0057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308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18-25</c:v>
                  </c:pt>
                  <c:pt idx="1">
                    <c:v>26-35</c:v>
                  </c:pt>
                  <c:pt idx="2">
                    <c:v>36-45</c:v>
                  </c:pt>
                  <c:pt idx="3">
                    <c:v>46-55</c:v>
                  </c:pt>
                  <c:pt idx="4">
                    <c:v>56+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8200</c:v>
                </c:pt>
                <c:pt idx="1">
                  <c:v>13400</c:v>
                </c:pt>
                <c:pt idx="2">
                  <c:v>15800</c:v>
                </c:pt>
                <c:pt idx="3">
                  <c:v>12100</c:v>
                </c:pt>
                <c:pt idx="4">
                  <c:v>9800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308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Returns by Category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1Y Return (%)</c:v>
                </c:pt>
              </c:strCache>
            </c:strRef>
          </c:tx>
          <c:spPr>
            <a:solidFill>
              <a:srgbClr val="00308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Small Cap</c:v>
                  </c:pt>
                  <c:pt idx="1">
                    <c:v>Mid Cap</c:v>
                  </c:pt>
                  <c:pt idx="2">
                    <c:v>ELSS</c:v>
                  </c:pt>
                  <c:pt idx="3">
                    <c:v>Flexi Cap</c:v>
                  </c:pt>
                  <c:pt idx="4">
                    <c:v>Large Cap</c:v>
                  </c:pt>
                  <c:pt idx="5">
                    <c:v>Gilt</c:v>
                  </c:pt>
                  <c:pt idx="6">
                    <c:v>Liquid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24.5</c:v>
                </c:pt>
                <c:pt idx="1">
                  <c:v>20.1</c:v>
                </c:pt>
                <c:pt idx="2">
                  <c:v>18.2</c:v>
                </c:pt>
                <c:pt idx="3">
                  <c:v>17.8</c:v>
                </c:pt>
                <c:pt idx="4">
                  <c:v>12.4</c:v>
                </c:pt>
                <c:pt idx="5">
                  <c:v>8.1</c:v>
                </c:pt>
                <c:pt idx="6">
                  <c:v>7.2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3Y Return (%)</c:v>
                </c:pt>
              </c:strCache>
            </c:strRef>
          </c:tx>
          <c:spPr>
            <a:solidFill>
              <a:srgbClr val="FF6B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Small Cap</c:v>
                  </c:pt>
                  <c:pt idx="1">
                    <c:v>Mid Cap</c:v>
                  </c:pt>
                  <c:pt idx="2">
                    <c:v>ELSS</c:v>
                  </c:pt>
                  <c:pt idx="3">
                    <c:v>Flexi Cap</c:v>
                  </c:pt>
                  <c:pt idx="4">
                    <c:v>Large Cap</c:v>
                  </c:pt>
                  <c:pt idx="5">
                    <c:v>Gilt</c:v>
                  </c:pt>
                  <c:pt idx="6">
                    <c:v>Liquid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22.4</c:v>
                </c:pt>
                <c:pt idx="1">
                  <c:v>18.9</c:v>
                </c:pt>
                <c:pt idx="2">
                  <c:v>16.1</c:v>
                </c:pt>
                <c:pt idx="3">
                  <c:v>15.4</c:v>
                </c:pt>
                <c:pt idx="4">
                  <c:v>12</c:v>
                </c:pt>
                <c:pt idx="5">
                  <c:v>7.4</c:v>
                </c:pt>
                <c:pt idx="6">
                  <c:v>6.5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Historical VaR (95%) by Category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VaR 95% (Daily %)</c:v>
                </c:pt>
              </c:strCache>
            </c:strRef>
          </c:tx>
          <c:spPr>
            <a:solidFill>
              <a:srgbClr val="28A7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308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8A74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8A74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6B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6B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6B0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C3545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Liquid</c:v>
                  </c:pt>
                  <c:pt idx="1">
                    <c:v>Gilt</c:v>
                  </c:pt>
                  <c:pt idx="2">
                    <c:v>Large Cap</c:v>
                  </c:pt>
                  <c:pt idx="3">
                    <c:v>Flexi Cap</c:v>
                  </c:pt>
                  <c:pt idx="4">
                    <c:v>ELSS</c:v>
                  </c:pt>
                  <c:pt idx="5">
                    <c:v>Mid Cap</c:v>
                  </c:pt>
                  <c:pt idx="6">
                    <c:v>Small Cap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-0.12</c:v>
                </c:pt>
                <c:pt idx="1">
                  <c:v>-0.68</c:v>
                </c:pt>
                <c:pt idx="2">
                  <c:v>-1.62</c:v>
                </c:pt>
                <c:pt idx="3">
                  <c:v>-1.98</c:v>
                </c:pt>
                <c:pt idx="4">
                  <c:v>-2.05</c:v>
                </c:pt>
                <c:pt idx="5">
                  <c:v>-2.24</c:v>
                </c:pt>
                <c:pt idx="6">
                  <c:v>-2.71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308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SIP Continuity Rate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SIP Continuity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3545"/>
              </a:solidFill>
              <a:effectLst/>
            </c:spPr>
          </c:dPt>
          <c:dPt>
            <c:idx val="1"/>
            <c:bubble3D val="0"/>
            <c:spPr>
              <a:solidFill>
                <a:srgbClr val="28A74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At-Risk (gap &gt; 35d)</c:v>
                </c:pt>
                <c:pt idx="1">
                  <c:v>Regular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97.8</c:v>
                </c:pt>
                <c:pt idx="1">
                  <c:v>2.2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AUM</c:v>
                </c:pt>
              </c:strCache>
            </c:strRef>
          </c:tx>
          <c:spPr>
            <a:solidFill>
              <a:srgbClr val="003087"/>
            </a:solidFill>
            <a:ln w="25400" cap="flat">
              <a:solidFill>
                <a:srgbClr val="00308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3087"/>
              </a:solidFill>
              <a:ln w="9525" cap="flat">
                <a:solidFill>
                  <a:srgbClr val="00308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39</c:v>
                </c:pt>
                <c:pt idx="1">
                  <c:v>42</c:v>
                </c:pt>
                <c:pt idx="2">
                  <c:v>56</c:v>
                </c:pt>
                <c:pt idx="3">
                  <c:v>81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AUM</c:v>
                </c:pt>
              </c:strCache>
            </c:strRef>
          </c:tx>
          <c:spPr>
            <a:solidFill>
              <a:srgbClr val="0057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SBI MF</c:v>
                  </c:pt>
                  <c:pt idx="1">
                    <c:v>ICICI Pru</c:v>
                  </c:pt>
                  <c:pt idx="2">
                    <c:v>HDFC</c:v>
                  </c:pt>
                  <c:pt idx="3">
                    <c:v>Nippon</c:v>
                  </c:pt>
                  <c:pt idx="4">
                    <c:v>Kotak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16.14</c:v>
                </c:pt>
                <c:pt idx="1">
                  <c:v>13.87</c:v>
                </c:pt>
                <c:pt idx="2">
                  <c:v>12.01</c:v>
                </c:pt>
                <c:pt idx="3">
                  <c:v>9.04</c:v>
                </c:pt>
                <c:pt idx="4">
                  <c:v>7.49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Funds</c:v>
                </c:pt>
              </c:strCache>
            </c:strRef>
          </c:tx>
          <c:spPr>
            <a:solidFill>
              <a:srgbClr val="FF6B00"/>
            </a:solidFill>
            <a:ln w="25400" cap="flat">
              <a:solidFill>
                <a:srgbClr val="FF6B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6B00"/>
              </a:solidFill>
              <a:ln w="9525" cap="flat">
                <a:solidFill>
                  <a:srgbClr val="FF6B00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6.5</c:v>
                </c:pt>
                <c:pt idx="1">
                  <c:v>12.4</c:v>
                </c:pt>
                <c:pt idx="2">
                  <c:v>15.4</c:v>
                </c:pt>
                <c:pt idx="3">
                  <c:v>18.9</c:v>
                </c:pt>
                <c:pt idx="4">
                  <c:v>22.4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0.8</c:v>
                </c:pt>
                <c:pt idx="1">
                  <c:v>14.2</c:v>
                </c:pt>
                <c:pt idx="2">
                  <c:v>16.8</c:v>
                </c:pt>
                <c:pt idx="3">
                  <c:v>19.5</c:v>
                </c:pt>
                <c:pt idx="4">
                  <c:v>24.1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Txn (Bn)</c:v>
                </c:pt>
              </c:strCache>
            </c:strRef>
          </c:tx>
          <c:spPr>
            <a:solidFill>
              <a:srgbClr val="0057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Punjab</c:v>
                  </c:pt>
                  <c:pt idx="1">
                    <c:v>Tamil Nadu</c:v>
                  </c:pt>
                  <c:pt idx="2">
                    <c:v>MP</c:v>
                  </c:pt>
                  <c:pt idx="3">
                    <c:v>Rajasthan</c:v>
                  </c:pt>
                  <c:pt idx="4">
                    <c:v>Gujarat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0.32</c:v>
                </c:pt>
                <c:pt idx="1">
                  <c:v>0.3</c:v>
                </c:pt>
                <c:pt idx="2">
                  <c:v>0.29</c:v>
                </c:pt>
                <c:pt idx="3">
                  <c:v>0.28</c:v>
                </c:pt>
                <c:pt idx="4">
                  <c:v>0.27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3087"/>
              </a:solidFill>
              <a:effectLst/>
            </c:spPr>
          </c:dPt>
          <c:dPt>
            <c:idx val="1"/>
            <c:bubble3D val="0"/>
            <c:spPr>
              <a:solidFill>
                <a:srgbClr val="FF6B00"/>
              </a:solidFill>
              <a:effectLst/>
            </c:spPr>
          </c:dPt>
          <c:dPt>
            <c:idx val="2"/>
            <c:bubble3D val="0"/>
            <c:spPr>
              <a:solidFill>
                <a:srgbClr val="28A74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Lumpsum</c:v>
                </c:pt>
                <c:pt idx="1">
                  <c:v>Redeem</c:v>
                </c:pt>
                <c:pt idx="2">
                  <c:v>SIP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58.5</c:v>
                </c:pt>
                <c:pt idx="1">
                  <c:v>35.3</c:v>
                </c:pt>
                <c:pt idx="2">
                  <c:v>6.2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Volume</c:v>
                </c:pt>
              </c:strCache>
            </c:strRef>
          </c:tx>
          <c:spPr>
            <a:solidFill>
              <a:srgbClr val="28A745"/>
            </a:solidFill>
            <a:ln w="25400" cap="flat">
              <a:solidFill>
                <a:srgbClr val="28A74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8A745"/>
              </a:solidFill>
              <a:ln w="9525" cap="flat">
                <a:solidFill>
                  <a:srgbClr val="28A74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2600</c:v>
                </c:pt>
                <c:pt idx="1">
                  <c:v>2400</c:v>
                </c:pt>
                <c:pt idx="2">
                  <c:v>2900</c:v>
                </c:pt>
                <c:pt idx="3">
                  <c:v>2700</c:v>
                </c:pt>
                <c:pt idx="4">
                  <c:v>3100</c:v>
                </c:pt>
                <c:pt idx="5">
                  <c:v>2800</c:v>
                </c:pt>
                <c:pt idx="6">
                  <c:v>3200</c:v>
                </c:pt>
                <c:pt idx="7">
                  <c:v>3000</c:v>
                </c:pt>
                <c:pt idx="8">
                  <c:v>2500</c:v>
                </c:pt>
                <c:pt idx="9">
                  <c:v>2700</c:v>
                </c:pt>
                <c:pt idx="10">
                  <c:v>2900</c:v>
                </c:pt>
                <c:pt idx="11">
                  <c:v>3100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SIP Inflow (Cr)</c:v>
                </c:pt>
              </c:strCache>
            </c:strRef>
          </c:tx>
          <c:spPr>
            <a:solidFill>
              <a:srgbClr val="0057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12400</c:v>
                </c:pt>
                <c:pt idx="1">
                  <c:v>16300</c:v>
                </c:pt>
                <c:pt idx="2">
                  <c:v>21700</c:v>
                </c:pt>
                <c:pt idx="3">
                  <c:v>31000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Nifty 50</c:v>
                </c:pt>
              </c:strCache>
            </c:strRef>
          </c:tx>
          <c:spPr>
            <a:solidFill>
              <a:srgbClr val="FF6B00"/>
            </a:solidFill>
            <a:ln w="25400" cap="flat">
              <a:solidFill>
                <a:srgbClr val="FF6B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6B00"/>
              </a:solidFill>
              <a:ln w="9525" cap="flat">
                <a:solidFill>
                  <a:srgbClr val="FF6B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17465</c:v>
                </c:pt>
                <c:pt idx="1">
                  <c:v>18935</c:v>
                </c:pt>
                <c:pt idx="2">
                  <c:v>24951</c:v>
                </c:pt>
                <c:pt idx="3">
                  <c:v>27500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Inflow FY25 (Cr)</c:v>
                </c:pt>
              </c:strCache>
            </c:strRef>
          </c:tx>
          <c:spPr>
            <a:solidFill>
              <a:srgbClr val="00308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308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57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6B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6B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8A745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Liquid</c:v>
                  </c:pt>
                  <c:pt idx="1">
                    <c:v>Sectoral</c:v>
                  </c:pt>
                  <c:pt idx="2">
                    <c:v>Flexi Cap</c:v>
                  </c:pt>
                  <c:pt idx="3">
                    <c:v>Lg &amp; Mid</c:v>
                  </c:pt>
                  <c:pt idx="4">
                    <c:v>Short Dur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451275</c:v>
                </c:pt>
                <c:pt idx="1">
                  <c:v>103829</c:v>
                </c:pt>
                <c:pt idx="2">
                  <c:v>63989</c:v>
                </c:pt>
                <c:pt idx="3">
                  <c:v>57752</c:v>
                </c:pt>
                <c:pt idx="4">
                  <c:v>55530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This presentation covers our 7-day capstone analytics project on the Indian Mutual Fund industry built for Bluestock Fintech.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problem: India's MF industry lacks a unified analytics layer. Our goal was to build one in 7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datasets covering every dimension of the MF ecosystem — from fund metadata to daily NAV to individual investor transactions.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6-stage ETL pipeline moves data from raw CSVs through validation, cleaning, storage, analysis, and visualization.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takeaway: India's MF industry grew 107% in 3 years. SIP inflows hit ₹31,000 Cr in December 2025 — a historic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 36-45 are the biggest SIP contributors. Lumpsum dominates by value. Tier-3 cities show the highest growth 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Small Cap wins on raw returns but carries the highest risk. For risk-adjusted returns, Liquid and Large Cap funds lead.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97.8% of SIP investors have irregular cadence — this is a major retention and AUM growth risk. The fund recommender directly addresses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1 shows industry-level KPIs. Page 2 allows fund managers to compare risk vs return across all 40 schemes.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3 reveals geographic and demographic patterns. Page 4 shows the powerful SIP-market correlation and category trends.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critical findings. Most urgent: the SIP retention crisis. Most exciting: the 2024 cohort growth opportunity.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7 deliverables submitted. The project demonstrates the full analytics lifecycle from raw data to production-ready dashboards and AI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chart" Target="/ppt/charts/chart10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chart" Target="/ppt/charts/chart12.xml"/><Relationship Id="rId3" Type="http://schemas.openxmlformats.org/officeDocument/2006/relationships/chart" Target="/ppt/charts/chart13.xml"/><Relationship Id="rId4" Type="http://schemas.openxmlformats.org/officeDocument/2006/relationships/chart" Target="/ppt/charts/chart14.xml"/><Relationship Id="rId5" Type="http://schemas.openxmlformats.org/officeDocument/2006/relationships/chart" Target="/ppt/charts/chart15.xm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0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BLUESTOCK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200" kern="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MUTUAL FUND ANALYTICS DASHBOARD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Fintech Data Analytics Capstone Project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78892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15000"/>
            </a:srgbClr>
          </a:solidFill>
          <a:ln w="19050">
            <a:solidFill>
              <a:srgbClr val="FF6B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8346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3649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0" y="278892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15000"/>
            </a:srgbClr>
          </a:solidFill>
          <a:ln w="19050">
            <a:solidFill>
              <a:srgbClr val="FF6B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28346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32,778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743200" y="33649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278892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15000"/>
            </a:srgbClr>
          </a:solidFill>
          <a:ln w="19050">
            <a:solidFill>
              <a:srgbClr val="FF6B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8346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₹81L Cr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54880" y="33649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AUM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66560" y="278892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15000"/>
            </a:srgbClr>
          </a:solidFill>
          <a:ln w="19050">
            <a:solidFill>
              <a:srgbClr val="FF6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28346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Days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766560" y="33649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Duration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Rakesh Gundala  |  Bluestock Fintech Internship  | 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Objectives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set out to solve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FFF0F0"/>
          </a:solidFill>
          <a:ln w="19050">
            <a:solidFill>
              <a:srgbClr val="DC354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97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₹81L Cr industry with no unified analytics platform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managers lack real-time performance visibility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Investors receive generic, non-personalized advice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 drop-off rates are dangerously high (97.8%)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risk-adjusted comparison across 1,908+ schemes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investment gaps remain unmapped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F0FFF4"/>
          </a:solidFill>
          <a:ln w="19050">
            <a:solidFill>
              <a:srgbClr val="28A74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097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OBJECTIVES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92040" y="146304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end-to-end ETL pipeline for 10 MF datasets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4-page interactive Power BI dashboard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VaR, CVaR, Sharpe, Alpha, Beta for all 40 funds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at-risk SIP investors for intervention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AI fund recommender by risk appetite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on GitHub with full documentation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 &amp; Coverage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structured datasets — 87,000+ records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3977640"/>
        </p:xfrm>
        <a:graphic>
          <a:graphicData uri="http://schemas.openxmlformats.org/drawingml/2006/table">
            <a:tbl>
              <a:tblPr/>
              <a:tblGrid>
                <a:gridCol w="365760"/>
                <a:gridCol w="1920240"/>
                <a:gridCol w="1097280"/>
                <a:gridCol w="50292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Dataset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Size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Key Content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57B8"/>
                          </a:solidFill>
                        </a:rPr>
                        <a:t>01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3087"/>
                          </a:solidFill>
                        </a:rPr>
                        <a:t>Fund Master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8A745"/>
                          </a:solidFill>
                        </a:rPr>
                        <a:t>40 rows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55555"/>
                          </a:solidFill>
                        </a:rPr>
                        <a:t>Scheme metadata, AMC, category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57B8"/>
                          </a:solidFill>
                        </a:rPr>
                        <a:t>02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3087"/>
                          </a:solidFill>
                        </a:rPr>
                        <a:t>NAV History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8A745"/>
                          </a:solidFill>
                        </a:rPr>
                        <a:t>46,000 rows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55555"/>
                          </a:solidFill>
                        </a:rPr>
                        <a:t>Daily NAV 2022-2026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57B8"/>
                          </a:solidFill>
                        </a:rPr>
                        <a:t>03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3087"/>
                          </a:solidFill>
                        </a:rPr>
                        <a:t>AUM by Fund House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8A745"/>
                          </a:solidFill>
                        </a:rPr>
                        <a:t>90 rows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55555"/>
                          </a:solidFill>
                        </a:rPr>
                        <a:t>Monthly AMC-level AUM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57B8"/>
                          </a:solidFill>
                        </a:rPr>
                        <a:t>04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3087"/>
                          </a:solidFill>
                        </a:rPr>
                        <a:t>Monthly SIP Inflows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8A745"/>
                          </a:solidFill>
                        </a:rPr>
                        <a:t>48 rows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55555"/>
                          </a:solidFill>
                        </a:rPr>
                        <a:t>SIP trend 2022-2025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57B8"/>
                          </a:solidFill>
                        </a:rPr>
                        <a:t>05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3087"/>
                          </a:solidFill>
                        </a:rPr>
                        <a:t>Category Inflows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8A745"/>
                          </a:solidFill>
                        </a:rPr>
                        <a:t>144 rows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55555"/>
                          </a:solidFill>
                        </a:rPr>
                        <a:t>Net inflow by category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57B8"/>
                          </a:solidFill>
                        </a:rPr>
                        <a:t>06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3087"/>
                          </a:solidFill>
                        </a:rPr>
                        <a:t>Industry Folio Count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8A745"/>
                          </a:solidFill>
                        </a:rPr>
                        <a:t>21 rows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55555"/>
                          </a:solidFill>
                        </a:rPr>
                        <a:t>Total active folios monthly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57B8"/>
                          </a:solidFill>
                        </a:rPr>
                        <a:t>07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3087"/>
                          </a:solidFill>
                        </a:rPr>
                        <a:t>Scheme Performance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8A745"/>
                          </a:solidFill>
                        </a:rPr>
                        <a:t>40 rows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55555"/>
                          </a:solidFill>
                        </a:rPr>
                        <a:t>Returns, Sharpe, Alpha, Beta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57B8"/>
                          </a:solidFill>
                        </a:rPr>
                        <a:t>08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3087"/>
                          </a:solidFill>
                        </a:rPr>
                        <a:t>Investor Transactions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8A745"/>
                          </a:solidFill>
                        </a:rPr>
                        <a:t>32,778 rows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55555"/>
                          </a:solidFill>
                        </a:rPr>
                        <a:t>Individual investor records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57B8"/>
                          </a:solidFill>
                        </a:rPr>
                        <a:t>09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3087"/>
                          </a:solidFill>
                        </a:rPr>
                        <a:t>Portfolio Holdings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8A745"/>
                          </a:solidFill>
                        </a:rPr>
                        <a:t>322 rows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55555"/>
                          </a:solidFill>
                        </a:rPr>
                        <a:t>Fund stock-level weights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57B8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3087"/>
                          </a:solidFill>
                        </a:rPr>
                        <a:t>Benchmark Indices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8A745"/>
                          </a:solidFill>
                        </a:rPr>
                        <a:t>8,050 rows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55555"/>
                          </a:solidFill>
                        </a:rPr>
                        <a:t>Nifty 50 daily close values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Architecture &amp; Tech Stack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data to business insights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280160" cy="1005840"/>
          </a:xfrm>
          <a:prstGeom prst="roundRect">
            <a:avLst>
              <a:gd name="adj" fmla="val 9091"/>
            </a:avLst>
          </a:prstGeom>
          <a:solidFill>
            <a:srgbClr val="DC354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515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15087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CSVs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600200" y="1508760"/>
            <a:ext cx="18288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83080" y="1005840"/>
            <a:ext cx="1280160" cy="1005840"/>
          </a:xfrm>
          <a:prstGeom prst="roundRect">
            <a:avLst>
              <a:gd name="adj" fmla="val 9091"/>
            </a:avLst>
          </a:prstGeom>
          <a:solidFill>
            <a:srgbClr val="FF6B0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83080" y="10515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83080" y="15087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+ Nulls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063240" y="1508760"/>
            <a:ext cx="18288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005840"/>
            <a:ext cx="1280160" cy="1005840"/>
          </a:xfrm>
          <a:prstGeom prst="roundRect">
            <a:avLst>
              <a:gd name="adj" fmla="val 9091"/>
            </a:avLst>
          </a:prstGeom>
          <a:solidFill>
            <a:srgbClr val="0057B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46120" y="10515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46120" y="15087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+ Normalize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26280" y="1508760"/>
            <a:ext cx="18288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1005840"/>
            <a:ext cx="1280160" cy="1005840"/>
          </a:xfrm>
          <a:prstGeom prst="roundRect">
            <a:avLst>
              <a:gd name="adj" fmla="val 9091"/>
            </a:avLst>
          </a:prstGeom>
          <a:solidFill>
            <a:srgbClr val="00308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9160" y="10515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09160" y="15087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+ CSV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89320" y="1508760"/>
            <a:ext cx="18288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1005840"/>
            <a:ext cx="1280160" cy="1005840"/>
          </a:xfrm>
          <a:prstGeom prst="roundRect">
            <a:avLst>
              <a:gd name="adj" fmla="val 9091"/>
            </a:avLst>
          </a:prstGeom>
          <a:solidFill>
            <a:srgbClr val="28A74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72200" y="10515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72200" y="15087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+ Jupyter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452360" y="1508760"/>
            <a:ext cx="18288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35240" y="1005840"/>
            <a:ext cx="1280160" cy="1005840"/>
          </a:xfrm>
          <a:prstGeom prst="roundRect">
            <a:avLst>
              <a:gd name="adj" fmla="val 9091"/>
            </a:avLst>
          </a:prstGeom>
          <a:solidFill>
            <a:srgbClr val="6F42C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635240" y="10515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635240" y="15087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4-Page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2331720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2920" y="23865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26517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ETL, analytics, risk metrics, recommender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2331720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00600" y="23865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/ NumPy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00600" y="26517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manipulation, VaR, rolling Sharpe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3136392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02920" y="319125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" y="34564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database, 8 tables, FK relationships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3136392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800600" y="319125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Desktop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00600" y="34564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4-page interactive dashboard, slicers, drill-through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3941064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02920" y="39959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Jupyter Notebook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2920" y="42611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analytics, visualizations, insights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63440" y="3941064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4F7FB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800600" y="39959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+ Git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00600" y="42611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control, v1.0 tag, README documentation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Highlights — Industry Growth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MF industry doubled in 3 years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5400">
            <a:solidFill>
              <a:srgbClr val="00308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38912" y="1033272"/>
            <a:ext cx="1773936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₹81L Cr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38912" y="1563624"/>
            <a:ext cx="1773936" cy="3520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AUM (Mar 2025)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23160" y="96012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5400">
            <a:solidFill>
              <a:srgbClr val="0057B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96312" y="1033272"/>
            <a:ext cx="1773936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5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₹31K Cr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96312" y="1563624"/>
            <a:ext cx="1773936" cy="3520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SIP (Record)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80560" y="96012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5400">
            <a:solidFill>
              <a:srgbClr val="28A74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53712" y="1033272"/>
            <a:ext cx="1773936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26.12 Cr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53712" y="1563624"/>
            <a:ext cx="1773936" cy="3520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Folios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537960" y="96012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5400">
            <a:solidFill>
              <a:srgbClr val="FF6B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11112" y="1033272"/>
            <a:ext cx="1773936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+107%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611112" y="1563624"/>
            <a:ext cx="1773936" cy="3520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 Growth 2022-2025</a:t>
            </a:r>
            <a:endParaRPr lang="en-US" sz="9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365760" y="2148840"/>
          <a:ext cx="50292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7" name="Chart 1" descr=""/>
          <p:cNvGraphicFramePr/>
          <p:nvPr/>
        </p:nvGraphicFramePr>
        <p:xfrm>
          <a:off x="5577840" y="2148840"/>
          <a:ext cx="338328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Highlights — Investor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who invests and how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206240" y="914400"/>
          <a:ext cx="46634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393192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D5E8F0"/>
          </a:solidFill>
          <a:ln w="12700">
            <a:solidFill>
              <a:srgbClr val="0057B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39776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Lumpsum dominates at 58.5% of transaction value — indicates high-ticket investors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36-45 has highest avg SIP (Rs.15,800) — peak earning years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Punjab, Tamil Nadu, MP top states by transaction volume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Tier-1 cities = 68% of value; Tier-3 growing fastest at 23% YoY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Metrics — Returns Analysis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Risk-adjusted returns across all categories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852160" y="9144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Funds by Sharpe Ratio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280160"/>
          <a:ext cx="3017520" cy="2011680"/>
        </p:xfrm>
        <a:graphic>
          <a:graphicData uri="http://schemas.openxmlformats.org/drawingml/2006/table">
            <a:tbl>
              <a:tblPr/>
              <a:tblGrid>
                <a:gridCol w="1554480"/>
                <a:gridCol w="731520"/>
                <a:gridCol w="7315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Fund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Sharpe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3Y Ret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ICICI Pru Liquid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28A745"/>
                          </a:solidFill>
                        </a:rPr>
                        <a:t>7.68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6.5%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ABSL Liquid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28A745"/>
                          </a:solidFill>
                        </a:rPr>
                        <a:t>7.41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6.3%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HDFC Top 100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57B8"/>
                          </a:solidFill>
                        </a:rPr>
                        <a:t>1.06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13.8%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Mirae Large Cap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57B8"/>
                          </a:solidFill>
                        </a:rPr>
                        <a:t>1.04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12.4%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Axis Bluechip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57B8"/>
                          </a:solidFill>
                        </a:rPr>
                        <a:t>0.98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12.1%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852160" y="338328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FFF8E8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342900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Small Cap delivers highest returns (24.5% 1Y) but carries VaR of -2.71% per day. Liquid funds best Sharpe at 7.68.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Metrics — Risk Analysis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VaR, Sharpe Ratio &amp; HHI Concentration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50292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577840" y="914400"/>
          <a:ext cx="32918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333756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5400">
            <a:solidFill>
              <a:srgbClr val="DC354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438912" y="3410712"/>
            <a:ext cx="1773936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97.8%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38912" y="3941064"/>
            <a:ext cx="1773936" cy="3520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Investors At-Risk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(SIP gap &gt; 35 days)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2560320" y="333756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5400">
            <a:solidFill>
              <a:srgbClr val="FF6B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2633472" y="3410712"/>
            <a:ext cx="1773936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2,064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2633472" y="3941064"/>
            <a:ext cx="1773936" cy="3520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HHI Score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(Axis Bluechip Fund)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754880" y="333756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5400">
            <a:solidFill>
              <a:srgbClr val="28A74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4828032" y="3410712"/>
            <a:ext cx="1773936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7.68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4828032" y="3941064"/>
            <a:ext cx="1773936" cy="3520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Sharpe Ratio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(ICICI Pru Liquid)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949440" y="333756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5400">
            <a:solidFill>
              <a:srgbClr val="00308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7022592" y="3410712"/>
            <a:ext cx="1773936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-2.71%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7022592" y="3941064"/>
            <a:ext cx="1773936" cy="3520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Worst Daily VaR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(Small Cap Funds)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— Industry Overview &amp; Fund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 and Page 2 of Power BI Dashboard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976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05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 — INDUSTRY OVERVIEW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914400" cy="594360"/>
          </a:xfrm>
          <a:prstGeom prst="roundRect">
            <a:avLst>
              <a:gd name="adj" fmla="val 9231"/>
            </a:avLst>
          </a:prstGeom>
          <a:solidFill>
            <a:srgbClr val="D5E8F0"/>
          </a:solidFill>
          <a:ln w="6350">
            <a:solidFill>
              <a:srgbClr val="0057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71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₹81L Cr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1480" y="16459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435608" y="1325880"/>
            <a:ext cx="914400" cy="594360"/>
          </a:xfrm>
          <a:prstGeom prst="roundRect">
            <a:avLst>
              <a:gd name="adj" fmla="val 9231"/>
            </a:avLst>
          </a:prstGeom>
          <a:solidFill>
            <a:srgbClr val="D5E8F0"/>
          </a:solidFill>
          <a:ln w="6350">
            <a:solidFill>
              <a:srgbClr val="0057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35608" y="1371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₹31K Cr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435608" y="16459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459736" y="1325880"/>
            <a:ext cx="914400" cy="594360"/>
          </a:xfrm>
          <a:prstGeom prst="roundRect">
            <a:avLst>
              <a:gd name="adj" fmla="val 9231"/>
            </a:avLst>
          </a:prstGeom>
          <a:solidFill>
            <a:srgbClr val="D5E8F0"/>
          </a:solidFill>
          <a:ln w="6350">
            <a:solidFill>
              <a:srgbClr val="0057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9736" y="1371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26.12Cr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459736" y="16459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Folios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483864" y="1325880"/>
            <a:ext cx="914400" cy="594360"/>
          </a:xfrm>
          <a:prstGeom prst="roundRect">
            <a:avLst>
              <a:gd name="adj" fmla="val 9231"/>
            </a:avLst>
          </a:prstGeom>
          <a:solidFill>
            <a:srgbClr val="D5E8F0"/>
          </a:solidFill>
          <a:ln w="6350">
            <a:solidFill>
              <a:srgbClr val="0057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83864" y="1371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1,908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83864" y="16459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Schemes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11480" y="2011680"/>
            <a:ext cx="1965960" cy="1645920"/>
          </a:xfrm>
          <a:prstGeom prst="roundRect">
            <a:avLst>
              <a:gd name="adj" fmla="val 3333"/>
            </a:avLst>
          </a:prstGeom>
          <a:solidFill>
            <a:srgbClr val="F4F7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33172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 Trend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2022-2025</a:t>
            </a:r>
            <a:endParaRPr lang="en-US" sz="8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411480" y="2011680"/>
          <a:ext cx="196596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2487168" y="2011680"/>
            <a:ext cx="1965960" cy="1645920"/>
          </a:xfrm>
          <a:prstGeom prst="roundRect">
            <a:avLst>
              <a:gd name="adj" fmla="val 3333"/>
            </a:avLst>
          </a:prstGeom>
          <a:solidFill>
            <a:srgbClr val="F4F7FB"/>
          </a:solidFill>
          <a:ln w="6350">
            <a:solidFill>
              <a:srgbClr val="DDDDDD"/>
            </a:solidFill>
            <a:prstDash val="solid"/>
          </a:ln>
        </p:spPr>
      </p:sp>
      <p:graphicFrame>
        <p:nvGraphicFramePr>
          <p:cNvPr id="22" name="Chart 1" descr=""/>
          <p:cNvGraphicFramePr/>
          <p:nvPr/>
        </p:nvGraphicFramePr>
        <p:xfrm>
          <a:off x="2487168" y="2011680"/>
          <a:ext cx="196596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Text 19"/>
          <p:cNvSpPr/>
          <p:nvPr/>
        </p:nvSpPr>
        <p:spPr>
          <a:xfrm>
            <a:off x="411480" y="44348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Visuals: 4 KPI Cards | AUM Trend Line | AUM by AMC Bar</a:t>
            </a:r>
            <a:endParaRPr lang="en-US" sz="750" dirty="0"/>
          </a:p>
        </p:txBody>
      </p:sp>
      <p:sp>
        <p:nvSpPr>
          <p:cNvPr id="24" name="Shape 20"/>
          <p:cNvSpPr/>
          <p:nvPr/>
        </p:nvSpPr>
        <p:spPr>
          <a:xfrm>
            <a:off x="4754880" y="914400"/>
            <a:ext cx="411480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4892040" y="1005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 — FUND PERFORMANCE</a:t>
            </a:r>
            <a:endParaRPr lang="en-US" sz="900" dirty="0"/>
          </a:p>
        </p:txBody>
      </p:sp>
      <p:graphicFrame>
        <p:nvGraphicFramePr>
          <p:cNvPr id="26" name="Chart 2" descr=""/>
          <p:cNvGraphicFramePr/>
          <p:nvPr/>
        </p:nvGraphicFramePr>
        <p:xfrm>
          <a:off x="4892040" y="1325880"/>
          <a:ext cx="374904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3246120"/>
          <a:ext cx="3749040" cy="1143000"/>
        </p:xfrm>
        <a:graphic>
          <a:graphicData uri="http://schemas.openxmlformats.org/drawingml/2006/table">
            <a:tbl>
              <a:tblPr/>
              <a:tblGrid>
                <a:gridCol w="2194560"/>
                <a:gridCol w="822960"/>
                <a:gridCol w="7315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Fund Name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3Y Ret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Sharpe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ICICI Pru Liquid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6.5%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8A745"/>
                          </a:solidFill>
                        </a:rPr>
                        <a:t>7.68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HDFC Top 100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13.8%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57B8"/>
                          </a:solidFill>
                        </a:rPr>
                        <a:t>1.06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Axis Bluechip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12.1%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57B8"/>
                          </a:solidFill>
                        </a:rPr>
                        <a:t>0.98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28" name="Text 22"/>
          <p:cNvSpPr/>
          <p:nvPr/>
        </p:nvSpPr>
        <p:spPr>
          <a:xfrm>
            <a:off x="4892040" y="44348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Visuals: Risk-Return Scatter | Fund Scorecard Table | NAV vs Benchmark | 3 Slicers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— Investor Analytics &amp; Market Trends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 and Page 4 of Power BI Dashboard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976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05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 — INVESTOR ANALYTICS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11480" y="1325880"/>
          <a:ext cx="256032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3063240" y="1325880"/>
          <a:ext cx="141732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2" descr=""/>
          <p:cNvGraphicFramePr/>
          <p:nvPr/>
        </p:nvGraphicFramePr>
        <p:xfrm>
          <a:off x="411480" y="2834640"/>
          <a:ext cx="393192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 4"/>
          <p:cNvSpPr/>
          <p:nvPr/>
        </p:nvSpPr>
        <p:spPr>
          <a:xfrm>
            <a:off x="411480" y="44348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Visuals: Txn by State | Donut Type Split | Age vs SIP | Monthly Volume | 3 Slicers</a:t>
            </a:r>
            <a:endParaRPr lang="en-US" sz="750" dirty="0"/>
          </a:p>
        </p:txBody>
      </p:sp>
      <p:sp>
        <p:nvSpPr>
          <p:cNvPr id="10" name="Shape 5"/>
          <p:cNvSpPr/>
          <p:nvPr/>
        </p:nvSpPr>
        <p:spPr>
          <a:xfrm>
            <a:off x="4754880" y="914400"/>
            <a:ext cx="411480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6"/>
          <p:cNvSpPr/>
          <p:nvPr/>
        </p:nvSpPr>
        <p:spPr>
          <a:xfrm>
            <a:off x="4892040" y="1005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 — SIP &amp; MARKET TRENDS</a:t>
            </a:r>
            <a:endParaRPr lang="en-US" sz="900" dirty="0"/>
          </a:p>
        </p:txBody>
      </p:sp>
      <p:graphicFrame>
        <p:nvGraphicFramePr>
          <p:cNvPr id="12" name="Chart 3" descr=""/>
          <p:cNvGraphicFramePr/>
          <p:nvPr/>
        </p:nvGraphicFramePr>
        <p:xfrm>
          <a:off x="4892040" y="1325880"/>
          <a:ext cx="374904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3" name="Chart 4" descr=""/>
          <p:cNvGraphicFramePr/>
          <p:nvPr/>
        </p:nvGraphicFramePr>
        <p:xfrm>
          <a:off x="4892040" y="3246120"/>
          <a:ext cx="374904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4" name="Text 7"/>
          <p:cNvSpPr/>
          <p:nvPr/>
        </p:nvSpPr>
        <p:spPr>
          <a:xfrm>
            <a:off x="4892040" y="44348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Visuals: SIP vs Nifty Dual-Axis | Category Heatmap Matrix | Top 5 FY25 Bar Chart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 &amp; Business Recommendations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insights for Bluestock Fintech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9050">
            <a:solidFill>
              <a:srgbClr val="28A74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Industry at Inflection Point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344168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₹81L Cr AUM with 107% growth in 3 years. SIP at record ₹31K Cr/month. Retail participation is surging — now is the time to scale the platform.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617720" y="960120"/>
            <a:ext cx="416052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9050">
            <a:solidFill>
              <a:srgbClr val="DC354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0515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SIP Retention Crisis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344168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97.8% of investors have irregular SIP cadence. 1,332 at-risk investors need immediate intervention. A nudge system could recover significant AUM.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2377440"/>
            <a:ext cx="416052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9050">
            <a:solidFill>
              <a:srgbClr val="0057B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4688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Risk-Adjusted Leadership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761488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 funds dominate on Sharpe (7.68). For equity, Large Cap offers best risk-reward (Sharpe ~1.06). Small Cap only for 5+ year horizons.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17720" y="2377440"/>
            <a:ext cx="416052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9050">
            <a:solidFill>
              <a:srgbClr val="FF6B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24688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🏭  Portfolio Concentration Risk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2761488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Axis Bluechip HHI = 2,064 (High). 60% of equity funds are highly concentrated. Investors need better diversification tools.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794760"/>
            <a:ext cx="416052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9050">
            <a:solidFill>
              <a:srgbClr val="6F42C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38862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42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 Cohort Opportunity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4178808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cohort: 4,624 investors, ₹21.5Cr invested. 2025 cohort has higher avg SIP (₹13,505). Both prefer Index and Small Cap — grow these categories.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17720" y="3794760"/>
            <a:ext cx="416052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9050">
            <a:solidFill>
              <a:srgbClr val="00308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38862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 Geographic Expansion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4178808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Tier-3 cities growing at 23% YoY but underserved. Punjab, Tamil Nadu, MP lead in volume. Expand distribution to Tier-2/3 for next growth wave.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30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8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Bluestock Mutual Fund Analytics Dashboard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Final_Report.pdf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230428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17-page analytics report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800600" y="2011680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10328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mf_Dashboard.pbix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10328" y="230428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4-page Power BI dashboard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670048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7157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Advanced_Analytics.ipynb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296265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metrics Jupyter notebook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800600" y="2670048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27157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var_cvar_report.csv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96265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 &amp; CVaR for 40 funds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3328416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37413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recommender.py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362102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fund recommender system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800600" y="3328416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337413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GitHub v1.0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10328" y="362102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repo with README + tag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Rakesh Gundala  |  Bluestock Fintech Internship  |  June 2026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github.com/gundalarakesh262-cpu/fintech_mutual_funds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MF Analytics Dashboard</dc:title>
  <dc:subject>PptxGenJS Presentation</dc:subject>
  <dc:creator>Rakesh Gundala</dc:creator>
  <cp:lastModifiedBy>Rakesh Gundala</cp:lastModifiedBy>
  <cp:revision>1</cp:revision>
  <dcterms:created xsi:type="dcterms:W3CDTF">2026-06-12T07:50:21Z</dcterms:created>
  <dcterms:modified xsi:type="dcterms:W3CDTF">2026-06-12T07:50:21Z</dcterms:modified>
</cp:coreProperties>
</file>